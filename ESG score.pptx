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2" r:id="rId4"/>
    <p:sldId id="257" r:id="rId5"/>
    <p:sldId id="265" r:id="rId6"/>
    <p:sldId id="258" r:id="rId7"/>
    <p:sldId id="259" r:id="rId8"/>
    <p:sldId id="260" r:id="rId9"/>
    <p:sldId id="261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37C9E4C-B571-45C3-8045-2DAA80D1D985}">
          <p14:sldIdLst>
            <p14:sldId id="256"/>
            <p14:sldId id="262"/>
            <p14:sldId id="257"/>
            <p14:sldId id="265"/>
            <p14:sldId id="258"/>
            <p14:sldId id="259"/>
            <p14:sldId id="260"/>
            <p14:sldId id="261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6C1A6-C8C9-4C22-8481-07765A2F81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FE579D-2E6C-445A-B5C8-AD3B82370A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896C3-0DBB-4D6F-8C1C-D294CEB62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953E-DA2E-47EC-A186-2D77DD4A6269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172EF-C1CA-4409-80B7-9124A7716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7A0AE-4A1C-4001-8570-EFCF987B3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9623-A74E-45EB-9843-EA7AD7F7C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389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823EE-5CE4-4241-A9F3-6EFD16401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D2E03-95A4-4ECC-94F9-6A3A0343C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75A2F-8D28-4AA5-8818-4CAAE307D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953E-DA2E-47EC-A186-2D77DD4A6269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ABF7C-3D46-4B10-95EB-8A753FF0B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E4788-F44D-4353-8203-AA8754201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9623-A74E-45EB-9843-EA7AD7F7C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694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0015-A83D-45E2-8331-A0B1A54FA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99985-877A-478E-8665-A068BC85E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50A60-CCB7-4898-B5A5-8A0BFB57F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953E-DA2E-47EC-A186-2D77DD4A6269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9771F-99C6-47EF-97FD-80B566DC7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F0B3D-FA91-43F4-83CF-C00A644C6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9623-A74E-45EB-9843-EA7AD7F7C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323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5676C-CE90-4516-993D-02013FEDC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EF887-7ECC-4AFC-9AD8-E733EE5116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52C5AB-4451-4B87-B720-AA4149F7B7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44169-D585-43E5-9C26-89AC3F028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953E-DA2E-47EC-A186-2D77DD4A6269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CB518-7568-4757-A947-64E8D071A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7063E1-74F3-487F-B451-F1036542D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9623-A74E-45EB-9843-EA7AD7F7C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301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E96A7-4D12-4861-8CB8-7F24A54D3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E2290-D231-4932-9798-89D1068D1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F6A34-7724-4425-BDEF-5B42A7008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CF39-5542-4EEF-AA1F-90D7E7BC2B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3A3642-6BB3-4F72-ACB4-28D3C68950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0442E8-B5CE-4E18-AC96-BEB2C714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953E-DA2E-47EC-A186-2D77DD4A6269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0B29C3-7268-419B-9BA1-A201C7D76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98A31A-96D7-4A8A-B681-18E9DE99C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9623-A74E-45EB-9843-EA7AD7F7C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3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081DD-93D8-4637-A4F5-864AB531C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7DC3B-9C98-4936-95CD-302611C07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953E-DA2E-47EC-A186-2D77DD4A6269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6C5584-9DBE-46F0-A292-E5585AA6C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A15C75-356B-47B1-BEE8-282EE7DF5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9623-A74E-45EB-9843-EA7AD7F7C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382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D7A77F-33F7-45C1-8227-1891C059E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953E-DA2E-47EC-A186-2D77DD4A6269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DCE88B-0CD1-48B2-BF9F-E1F85BC8F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0D763-1B75-4EE5-B2B9-E99A8A6DA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9623-A74E-45EB-9843-EA7AD7F7C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747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E78FE-955D-4E76-A2A6-A966D2862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DD264-FF98-4741-87F0-C279410B3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EB3F25-73B5-473B-9566-94F6F0E5C1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E3E2C-4D5D-46D9-9197-DFFF7A198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953E-DA2E-47EC-A186-2D77DD4A6269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4D7763-2308-4D6B-939F-0CE1525DA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36443-5782-4DD1-B0B3-67B783B7B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9623-A74E-45EB-9843-EA7AD7F7C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118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A43A7-1148-4AE7-A519-EF83D7274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6BBAB4-37B1-4C73-8266-11E8F065A9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46A158-0A93-47AE-9C23-9034F929E9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C63A18-560E-4D65-A7EB-D9964AEF8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953E-DA2E-47EC-A186-2D77DD4A6269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C6BB31-AFE7-4681-BE78-EB3A5BFD1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D015A-F378-422D-92BD-BDC0888BC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9623-A74E-45EB-9843-EA7AD7F7C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900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FBB99-0C1E-4EC0-960D-870ADDAB6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22E0B9-8C3C-4A66-BF13-E3BCCEABEC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460AB-A13D-4E57-9081-7D3C10822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953E-DA2E-47EC-A186-2D77DD4A6269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D72F2-8F25-4F9B-B0C7-9B2913D61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2D641-1843-492A-96FC-E3826FEAE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9623-A74E-45EB-9843-EA7AD7F7C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688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922831-A557-4D27-9B52-D24A4F1028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FDDAFD-757C-4740-9852-886B1C865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11A96-040C-42A1-A757-3003D05D6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953E-DA2E-47EC-A186-2D77DD4A6269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A7744-13EE-429C-8692-D7902D1F4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C5B97-63DC-43BD-85AD-FE302D10D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9623-A74E-45EB-9843-EA7AD7F7C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615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953E-DA2E-47EC-A186-2D77DD4A6269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9623-A74E-45EB-9843-EA7AD7F7C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564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953E-DA2E-47EC-A186-2D77DD4A6269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9623-A74E-45EB-9843-EA7AD7F7C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5275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953E-DA2E-47EC-A186-2D77DD4A6269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9623-A74E-45EB-9843-EA7AD7F7C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7409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953E-DA2E-47EC-A186-2D77DD4A6269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9623-A74E-45EB-9843-EA7AD7F7C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2780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953E-DA2E-47EC-A186-2D77DD4A6269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9623-A74E-45EB-9843-EA7AD7F7C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056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953E-DA2E-47EC-A186-2D77DD4A6269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9623-A74E-45EB-9843-EA7AD7F7C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2832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953E-DA2E-47EC-A186-2D77DD4A6269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9623-A74E-45EB-9843-EA7AD7F7C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7544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953E-DA2E-47EC-A186-2D77DD4A6269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9623-A74E-45EB-9843-EA7AD7F7C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9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953E-DA2E-47EC-A186-2D77DD4A6269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9623-A74E-45EB-9843-EA7AD7F7C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583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953E-DA2E-47EC-A186-2D77DD4A6269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9623-A74E-45EB-9843-EA7AD7F7C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0303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953E-DA2E-47EC-A186-2D77DD4A6269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9623-A74E-45EB-9843-EA7AD7F7C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3528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953E-DA2E-47EC-A186-2D77DD4A6269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9623-A74E-45EB-9843-EA7AD7F7C3C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73666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953E-DA2E-47EC-A186-2D77DD4A6269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9623-A74E-45EB-9843-EA7AD7F7C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3311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953E-DA2E-47EC-A186-2D77DD4A6269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9623-A74E-45EB-9843-EA7AD7F7C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1791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953E-DA2E-47EC-A186-2D77DD4A6269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9623-A74E-45EB-9843-EA7AD7F7C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6920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953E-DA2E-47EC-A186-2D77DD4A6269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9623-A74E-45EB-9843-EA7AD7F7C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0714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5953E-DA2E-47EC-A186-2D77DD4A6269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9623-A74E-45EB-9843-EA7AD7F7C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936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975DA8-7B77-4A6F-BD82-835F1231F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91C02-4C59-4FF6-B813-5769A9A55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20D7B-3052-4648-92FC-D917FF58DF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5953E-DA2E-47EC-A186-2D77DD4A6269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48C94-88B7-47FC-92FB-347660E379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0C140-491B-4D24-BA5C-8A3EE65C7B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F9623-A74E-45EB-9843-EA7AD7F7C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63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5953E-DA2E-47EC-A186-2D77DD4A6269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F9623-A74E-45EB-9843-EA7AD7F7C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5246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manmourya152@gmail.com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5" Type="http://schemas.openxmlformats.org/officeDocument/2006/relationships/package" Target="../embeddings/Microsoft_Excel_Worksheet.xlsx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5D3992-700D-487D-A1F0-2BA8F0814B26}"/>
              </a:ext>
            </a:extLst>
          </p:cNvPr>
          <p:cNvSpPr txBox="1"/>
          <p:nvPr/>
        </p:nvSpPr>
        <p:spPr>
          <a:xfrm>
            <a:off x="3918786" y="2611040"/>
            <a:ext cx="88840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Portfolio</a:t>
            </a:r>
          </a:p>
          <a:p>
            <a:r>
              <a:rPr lang="en-IN" sz="2800" dirty="0"/>
              <a:t>	 VS Benchmark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E6339F-0A50-4FC3-9B6E-509284AE1392}"/>
              </a:ext>
            </a:extLst>
          </p:cNvPr>
          <p:cNvSpPr/>
          <p:nvPr/>
        </p:nvSpPr>
        <p:spPr>
          <a:xfrm>
            <a:off x="3417224" y="459805"/>
            <a:ext cx="5357557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ESG Risk Score</a:t>
            </a:r>
          </a:p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0EA238-84AA-4B7D-A6C7-E47671164169}"/>
              </a:ext>
            </a:extLst>
          </p:cNvPr>
          <p:cNvSpPr txBox="1"/>
          <p:nvPr/>
        </p:nvSpPr>
        <p:spPr>
          <a:xfrm>
            <a:off x="6777872" y="5344998"/>
            <a:ext cx="47605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Analysed by: Aman Mourya</a:t>
            </a:r>
          </a:p>
          <a:p>
            <a:r>
              <a:rPr lang="en-IN" dirty="0"/>
              <a:t>Email id: </a:t>
            </a:r>
            <a:r>
              <a:rPr lang="en-IN" dirty="0">
                <a:hlinkClick r:id="rId2"/>
              </a:rPr>
              <a:t>amanmourya152@gmail.com</a:t>
            </a:r>
            <a:endParaRPr lang="en-IN" dirty="0"/>
          </a:p>
          <a:p>
            <a:r>
              <a:rPr lang="en-IN" dirty="0"/>
              <a:t>Source data: Interview Project</a:t>
            </a:r>
          </a:p>
          <a:p>
            <a:r>
              <a:rPr lang="en-IN" dirty="0"/>
              <a:t>Source Code:</a:t>
            </a:r>
          </a:p>
        </p:txBody>
      </p:sp>
    </p:spTree>
    <p:extLst>
      <p:ext uri="{BB962C8B-B14F-4D97-AF65-F5344CB8AC3E}">
        <p14:creationId xmlns:p14="http://schemas.microsoft.com/office/powerpoint/2010/main" val="3950522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E2C729-6C1D-4C28-99F9-B2AD84CB7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97" y="1288025"/>
            <a:ext cx="5929003" cy="28780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B27E79-57D1-4AB9-A2D7-BC080C2C7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4988" y="1174514"/>
            <a:ext cx="6027615" cy="299157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FB8995A-514B-4F8C-AA2B-E1DF0CF865A1}"/>
              </a:ext>
            </a:extLst>
          </p:cNvPr>
          <p:cNvSpPr/>
          <p:nvPr/>
        </p:nvSpPr>
        <p:spPr>
          <a:xfrm>
            <a:off x="4340421" y="233100"/>
            <a:ext cx="320639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Risk Meter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B9F6EE88-F5BE-4C70-A06A-5DDA15C865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4390604"/>
              </p:ext>
            </p:extLst>
          </p:nvPr>
        </p:nvGraphicFramePr>
        <p:xfrm>
          <a:off x="5304541" y="4647638"/>
          <a:ext cx="1752600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Worksheet" r:id="rId5" imgW="1752671" imgH="921886" progId="Excel.Sheet.12">
                  <p:embed/>
                </p:oleObj>
              </mc:Choice>
              <mc:Fallback>
                <p:oleObj name="Worksheet" r:id="rId5" imgW="1752671" imgH="92188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04541" y="4647638"/>
                        <a:ext cx="1752600" cy="922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30610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D0A6865-C183-4ED4-B60B-EE7213A7E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937957"/>
              </p:ext>
            </p:extLst>
          </p:nvPr>
        </p:nvGraphicFramePr>
        <p:xfrm>
          <a:off x="8740588" y="1471678"/>
          <a:ext cx="3056049" cy="5018772"/>
        </p:xfrm>
        <a:graphic>
          <a:graphicData uri="http://schemas.openxmlformats.org/drawingml/2006/table">
            <a:tbl>
              <a:tblPr/>
              <a:tblGrid>
                <a:gridCol w="1008597">
                  <a:extLst>
                    <a:ext uri="{9D8B030D-6E8A-4147-A177-3AD203B41FA5}">
                      <a16:colId xmlns:a16="http://schemas.microsoft.com/office/drawing/2014/main" val="1550378400"/>
                    </a:ext>
                  </a:extLst>
                </a:gridCol>
                <a:gridCol w="827050">
                  <a:extLst>
                    <a:ext uri="{9D8B030D-6E8A-4147-A177-3AD203B41FA5}">
                      <a16:colId xmlns:a16="http://schemas.microsoft.com/office/drawing/2014/main" val="2072538343"/>
                    </a:ext>
                  </a:extLst>
                </a:gridCol>
                <a:gridCol w="1220402">
                  <a:extLst>
                    <a:ext uri="{9D8B030D-6E8A-4147-A177-3AD203B41FA5}">
                      <a16:colId xmlns:a16="http://schemas.microsoft.com/office/drawing/2014/main" val="994199537"/>
                    </a:ext>
                  </a:extLst>
                </a:gridCol>
              </a:tblGrid>
              <a:tr h="343164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Sector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Bench. Weight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Port. Weight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047575"/>
                  </a:ext>
                </a:extLst>
              </a:tr>
              <a:tr h="643432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Communication Services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9.14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970737"/>
                  </a:ext>
                </a:extLst>
              </a:tr>
              <a:tr h="643432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Consumer Discretionary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12.02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10.06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4381375"/>
                  </a:ext>
                </a:extLst>
              </a:tr>
              <a:tr h="343164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Consumer Staples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12.43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697416"/>
                  </a:ext>
                </a:extLst>
              </a:tr>
              <a:tr h="343164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Energy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2178386"/>
                  </a:ext>
                </a:extLst>
              </a:tr>
              <a:tr h="343164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Financials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13.53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3157575"/>
                  </a:ext>
                </a:extLst>
              </a:tr>
              <a:tr h="343164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Health Care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12.54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661668"/>
                  </a:ext>
                </a:extLst>
              </a:tr>
              <a:tr h="343164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Industrials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10.59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8.97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1949664"/>
                  </a:ext>
                </a:extLst>
              </a:tr>
              <a:tr h="643432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Information Technology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22.12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3266285"/>
                  </a:ext>
                </a:extLst>
              </a:tr>
              <a:tr h="343164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Materials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0981007"/>
                  </a:ext>
                </a:extLst>
              </a:tr>
              <a:tr h="343164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Real Estate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5453335"/>
                  </a:ext>
                </a:extLst>
              </a:tr>
              <a:tr h="343164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Utilities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5808708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930798C2-B026-40FB-B180-2EA51D14B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87" y="1748610"/>
            <a:ext cx="8392226" cy="368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D70D658-16C6-4B2A-9ED1-B69F2216EFBC}"/>
              </a:ext>
            </a:extLst>
          </p:cNvPr>
          <p:cNvSpPr/>
          <p:nvPr/>
        </p:nvSpPr>
        <p:spPr>
          <a:xfrm>
            <a:off x="2582525" y="233100"/>
            <a:ext cx="67221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Weightage Comparison</a:t>
            </a:r>
          </a:p>
        </p:txBody>
      </p:sp>
    </p:spTree>
    <p:extLst>
      <p:ext uri="{BB962C8B-B14F-4D97-AF65-F5344CB8AC3E}">
        <p14:creationId xmlns:p14="http://schemas.microsoft.com/office/powerpoint/2010/main" val="4039759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8E43A5-74E6-496D-8ACA-69FC5FA22BDD}"/>
              </a:ext>
            </a:extLst>
          </p:cNvPr>
          <p:cNvSpPr/>
          <p:nvPr/>
        </p:nvSpPr>
        <p:spPr>
          <a:xfrm>
            <a:off x="3259435" y="193534"/>
            <a:ext cx="638957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ESG Pillar Comparison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A1E5CF1-791D-49D4-9507-19F140575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3" y="1209106"/>
            <a:ext cx="9561171" cy="198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C1AC4F5A-48F5-4F02-8B3F-68A59B155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3" y="3806239"/>
            <a:ext cx="9561171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7633A2-10E1-482C-94BF-653C86D3DD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4704" y="3242359"/>
            <a:ext cx="1760220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515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115789-D21F-41EB-81A7-7CE0CDED8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428130"/>
              </p:ext>
            </p:extLst>
          </p:nvPr>
        </p:nvGraphicFramePr>
        <p:xfrm>
          <a:off x="7603259" y="1404578"/>
          <a:ext cx="3848100" cy="2674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3970124694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371984486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858341227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Sector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Bench. Weight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Port. Weight</a:t>
                      </a:r>
                      <a:endParaRPr lang="en-IN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2850424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Communication Services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9.14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7697452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Consumer Discretionary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12.02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10.06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928297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Consumer Staples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7.03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12.43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739402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Energy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3.15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3.09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369699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Financials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13.53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24.6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133204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Health Care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12.54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5.68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466951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Industrials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10.59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8.97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302896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Information Technology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22.12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16.6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513707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Materials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4.4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2.62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030327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Real Estate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2.71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3.87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7257848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IN" sz="1100" u="none" strike="noStrike">
                          <a:effectLst/>
                        </a:rPr>
                        <a:t>Utilities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>
                          <a:effectLst/>
                        </a:rPr>
                        <a:t>2.74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N" sz="1100" u="none" strike="noStrike" dirty="0">
                          <a:effectLst/>
                        </a:rPr>
                        <a:t>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2918940"/>
                  </a:ext>
                </a:extLst>
              </a:tr>
            </a:tbl>
          </a:graphicData>
        </a:graphic>
      </p:graphicFrame>
      <p:pic>
        <p:nvPicPr>
          <p:cNvPr id="2052" name="Picture 4">
            <a:extLst>
              <a:ext uri="{FF2B5EF4-FFF2-40B4-BE49-F238E27FC236}">
                <a16:creationId xmlns:a16="http://schemas.microsoft.com/office/drawing/2014/main" id="{539DBD78-9EAF-4655-B297-E449A6E335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130" y="2582819"/>
            <a:ext cx="9009529" cy="3996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C677E93-6CA6-432B-8E91-84A1756143C7}"/>
              </a:ext>
            </a:extLst>
          </p:cNvPr>
          <p:cNvSpPr/>
          <p:nvPr/>
        </p:nvSpPr>
        <p:spPr>
          <a:xfrm>
            <a:off x="2198523" y="278375"/>
            <a:ext cx="779495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ESG Risk Score Comparison</a:t>
            </a:r>
          </a:p>
        </p:txBody>
      </p:sp>
    </p:spTree>
    <p:extLst>
      <p:ext uri="{BB962C8B-B14F-4D97-AF65-F5344CB8AC3E}">
        <p14:creationId xmlns:p14="http://schemas.microsoft.com/office/powerpoint/2010/main" val="4016461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A87CA231-7399-40A8-A382-060AD0BD3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62" y="1404359"/>
            <a:ext cx="8139953" cy="3639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33CAD0E-84A8-4050-96B5-F39781C3EE2C}"/>
              </a:ext>
            </a:extLst>
          </p:cNvPr>
          <p:cNvSpPr/>
          <p:nvPr/>
        </p:nvSpPr>
        <p:spPr>
          <a:xfrm>
            <a:off x="464932" y="233100"/>
            <a:ext cx="109573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Environmental  Risk Score Comparison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4C7DC2-8801-4F39-8B85-6064EC29E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867" y="3545092"/>
            <a:ext cx="4613461" cy="298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235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5EE21C-7E51-4C5F-B49D-D3C5839442C8}"/>
              </a:ext>
            </a:extLst>
          </p:cNvPr>
          <p:cNvSpPr/>
          <p:nvPr/>
        </p:nvSpPr>
        <p:spPr>
          <a:xfrm>
            <a:off x="1698124" y="233100"/>
            <a:ext cx="84909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Social Risk Score Comparison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F920C2-E929-42D7-A0B9-AE3A44184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2353" y="1294952"/>
            <a:ext cx="3654336" cy="4433495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517588F-18FB-4B45-8526-9E3546081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45571"/>
            <a:ext cx="8518687" cy="4433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1919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7DFB8AE-A178-4A8B-B9FF-9AD2F23CE728}"/>
              </a:ext>
            </a:extLst>
          </p:cNvPr>
          <p:cNvSpPr/>
          <p:nvPr/>
        </p:nvSpPr>
        <p:spPr>
          <a:xfrm>
            <a:off x="894285" y="233100"/>
            <a:ext cx="100986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Governance Risk Score Comparison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3E870B-00CD-4EF3-8D36-CFC189532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0915" y="1235784"/>
            <a:ext cx="3848100" cy="4806427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88094D81-FACB-4815-8569-1956D7C70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985" y="2567923"/>
            <a:ext cx="8271338" cy="3698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0271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4C7F5AA-BD6B-4A87-BACF-1B0FA87C47A4}"/>
              </a:ext>
            </a:extLst>
          </p:cNvPr>
          <p:cNvSpPr/>
          <p:nvPr/>
        </p:nvSpPr>
        <p:spPr>
          <a:xfrm>
            <a:off x="3850896" y="233100"/>
            <a:ext cx="4185441" cy="95410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Basic Statical Analysis </a:t>
            </a:r>
          </a:p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of Portfolio and Benchmark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E5318F-C6FA-4454-A77C-136789100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25" y="2090047"/>
            <a:ext cx="5491876" cy="21502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270F6D-C20E-47DE-9422-1855CDDF128E}"/>
              </a:ext>
            </a:extLst>
          </p:cNvPr>
          <p:cNvSpPr txBox="1"/>
          <p:nvPr/>
        </p:nvSpPr>
        <p:spPr>
          <a:xfrm>
            <a:off x="314529" y="1729680"/>
            <a:ext cx="20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ESG Score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253592-8FD9-4E2F-B211-058281A09B94}"/>
              </a:ext>
            </a:extLst>
          </p:cNvPr>
          <p:cNvSpPr txBox="1"/>
          <p:nvPr/>
        </p:nvSpPr>
        <p:spPr>
          <a:xfrm>
            <a:off x="6096000" y="168536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ESG Intel Overall ESG Score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67C68D-CAE4-4F30-9C38-E7E30CB0D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90047"/>
            <a:ext cx="5781471" cy="201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899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9ABC0D-CD18-485F-B858-EDF40E3CBC39}"/>
              </a:ext>
            </a:extLst>
          </p:cNvPr>
          <p:cNvSpPr txBox="1"/>
          <p:nvPr/>
        </p:nvSpPr>
        <p:spPr>
          <a:xfrm>
            <a:off x="144379" y="296597"/>
            <a:ext cx="2855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ESG Environmental Score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56A062-90DF-4E1C-BD0D-6AEC3465F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21" y="781779"/>
            <a:ext cx="5805255" cy="22501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10D4370-3772-4BF4-AB84-4FD8CCE238AD}"/>
              </a:ext>
            </a:extLst>
          </p:cNvPr>
          <p:cNvSpPr txBox="1"/>
          <p:nvPr/>
        </p:nvSpPr>
        <p:spPr>
          <a:xfrm>
            <a:off x="269521" y="34290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ESG Social Score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5A1BFF-1C3E-4916-BEBB-A93C95DEF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21" y="3958116"/>
            <a:ext cx="6096000" cy="23298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BA03EDE-33E3-4EFD-A244-1EA020BBDF0F}"/>
              </a:ext>
            </a:extLst>
          </p:cNvPr>
          <p:cNvSpPr txBox="1"/>
          <p:nvPr/>
        </p:nvSpPr>
        <p:spPr>
          <a:xfrm>
            <a:off x="6365521" y="1795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ESG Governance Score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47D8F2-A0A8-42EF-AA9F-DADC630F7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892" y="2324450"/>
            <a:ext cx="5567729" cy="220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007457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174</TotalTime>
  <Words>168</Words>
  <Application>Microsoft Office PowerPoint</Application>
  <PresentationFormat>Widescreen</PresentationFormat>
  <Paragraphs>94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Bookman Old Style</vt:lpstr>
      <vt:lpstr>Calibri</vt:lpstr>
      <vt:lpstr>Calibri Light</vt:lpstr>
      <vt:lpstr>Rockwell</vt:lpstr>
      <vt:lpstr>Office Theme</vt:lpstr>
      <vt:lpstr>Damask</vt:lpstr>
      <vt:lpstr>Microsoft Excel 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Aman Mourya</dc:creator>
  <cp:lastModifiedBy>Aman Mourya</cp:lastModifiedBy>
  <cp:revision>6</cp:revision>
  <dcterms:created xsi:type="dcterms:W3CDTF">2021-12-02T05:32:46Z</dcterms:created>
  <dcterms:modified xsi:type="dcterms:W3CDTF">2021-12-02T08:30:03Z</dcterms:modified>
</cp:coreProperties>
</file>